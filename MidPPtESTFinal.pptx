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Masters/notesMaster2.xml" ContentType="application/vnd.openxmlformats-officedocument.presentationml.notesMaster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  <p:sldMasterId id="2147483649" r:id="rId201328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201318"/>
    <p:sldId id="267" r:id="rId201319"/>
    <p:sldId id="268" r:id="rId201320"/>
    <p:sldId id="269" r:id="rId201321"/>
    <p:sldId id="270" r:id="rId201322"/>
    <p:sldId id="271" r:id="rId201323"/>
    <p:sldId id="272" r:id="rId201324"/>
    <p:sldId id="273" r:id="rId201325"/>
    <p:sldId id="274" r:id="rId201326"/>
    <p:sldId id="275" r:id="rId201327"/>
  </p:sldIdLst>
  <p:notesMasterIdLst>
    <p:notesMasterId r:id="rId12"/>
  </p:notesMasterIdLst>
  <p:sldSz cx="12191695" cy="6858000"/>
  <p:notesSz cx="6858000" cy="12191695"/>
  <p:embeddedFontLst>
    <p:embeddedFont>
      <p:font typeface="Ledger"/>
      <p:regular r:id="rId201314"/>
    </p:embeddedFont>
    <p:embeddedFont>
      <p:font typeface="Mozilla Text"/>
      <p:regular r:id="rId201315"/>
    </p:embeddedFont>
    <p:embeddedFont>
      <p:font typeface="Mozilla Text SemiBold"/>
      <p:regular r:id="rId201316"/>
    </p:embeddedFont>
    <p:embeddedFont>
      <p:font typeface="Mozilla Tex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ype="http://schemas.openxmlformats.org/officeDocument/2006/relationships/slide" Target="slides/slide11.xml"/><Relationship Id="rId201319" Type="http://schemas.openxmlformats.org/officeDocument/2006/relationships/slide" Target="slides/slide12.xml"/><Relationship Id="rId201320" Type="http://schemas.openxmlformats.org/officeDocument/2006/relationships/slide" Target="slides/slide13.xml"/><Relationship Id="rId201321" Type="http://schemas.openxmlformats.org/officeDocument/2006/relationships/slide" Target="slides/slide14.xml"/><Relationship Id="rId201322" Type="http://schemas.openxmlformats.org/officeDocument/2006/relationships/slide" Target="slides/slide15.xml"/><Relationship Id="rId201323" Type="http://schemas.openxmlformats.org/officeDocument/2006/relationships/slide" Target="slides/slide16.xml"/><Relationship Id="rId201324" Type="http://schemas.openxmlformats.org/officeDocument/2006/relationships/slide" Target="slides/slide17.xml"/><Relationship Id="rId201325" Type="http://schemas.openxmlformats.org/officeDocument/2006/relationships/slide" Target="slides/slide18.xml"/><Relationship Id="rId201326" Type="http://schemas.openxmlformats.org/officeDocument/2006/relationships/slide" Target="slides/slide19.xml"/><Relationship Id="rId201327" Type="http://schemas.openxmlformats.org/officeDocument/2006/relationships/slide" Target="slides/slide20.xml"/><Relationship Id="rId201328" Type="http://schemas.openxmlformats.org/officeDocument/2006/relationships/slideMaster" Target="slideMasters/slideMaster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_rels/notesMaster2.xml.rels><?xml version="1.0" encoding="UTF-8" standalone="yes"?>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<Relationships xmlns="http://schemas.openxmlformats.org/package/2006/relationships">
			<Relationship Id="rId1" Type="http://schemas.openxmlformats.org/officeDocument/2006/relationships/notesMaster" Target="../notesMasters/notesMaster2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<Relationships xmlns="http://schemas.openxmlformats.org/package/2006/relationships">
			<Relationship Id="rId1" Type="http://schemas.openxmlformats.org/officeDocument/2006/relationships/notesMaster" Target="../notesMasters/notesMaster2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<Relationships xmlns="http://schemas.openxmlformats.org/package/2006/relationships">
			<Relationship Id="rId1" Type="http://schemas.openxmlformats.org/officeDocument/2006/relationships/notesMaster" Target="../notesMasters/notesMaster2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<Relationships xmlns="http://schemas.openxmlformats.org/package/2006/relationships">
			<Relationship Id="rId1" Type="http://schemas.openxmlformats.org/officeDocument/2006/relationships/notesMaster" Target="../notesMasters/notesMaster2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<Relationships xmlns="http://schemas.openxmlformats.org/package/2006/relationships">
			<Relationship Id="rId1" Type="http://schemas.openxmlformats.org/officeDocument/2006/relationships/notesMaster" Target="../notesMasters/notesMaster2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<Relationships xmlns="http://schemas.openxmlformats.org/package/2006/relationships">
			<Relationship Id="rId1" Type="http://schemas.openxmlformats.org/officeDocument/2006/relationships/notesMaster" Target="../notesMasters/notesMaster2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<Relationships xmlns="http://schemas.openxmlformats.org/package/2006/relationships">
			<Relationship Id="rId1" Type="http://schemas.openxmlformats.org/officeDocument/2006/relationships/notesMaster" Target="../notesMasters/notesMaster2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<Relationships xmlns="http://schemas.openxmlformats.org/package/2006/relationships">
			<Relationship Id="rId1" Type="http://schemas.openxmlformats.org/officeDocument/2006/relationships/notesMaster" Target="../notesMasters/notesMaster2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<Relationships xmlns="http://schemas.openxmlformats.org/package/2006/relationships">
			<Relationship Id="rId1" Type="http://schemas.openxmlformats.org/officeDocument/2006/relationships/notesMaster" Target="../notesMasters/notesMaster2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<Relationships xmlns="http://schemas.openxmlformats.org/package/2006/relationships">
			<Relationship Id="rId1" Type="http://schemas.openxmlformats.org/officeDocument/2006/relationships/notesMaster" Target="../notesMasters/notesMaster2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d2-image-1002-1.png"/><Relationship Id="rId3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2">
              <a:alpha val="8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1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d2-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d2-image-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d2-image-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d2-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d2-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18" kern="100" dirty="0">
                <a:solidFill>
                  <a:srgbClr val="FFFFFF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Environmental Pressures on the Ganga River Mainstem: A Spatial, Temporal, and Demographic Analysis (2012–2024)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227532"/>
            <a:ext cx="10972526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Environmental Science (ES) Course Project — Midsem Research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5244207"/>
            <a:ext cx="10972526" cy="1004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Presented by: Prasad 2024101040, Vineel 2024101009, Lokesh, Hemanth 2024101113</a:t>
            </a:r>
            <a:endParaRPr lang="en-US" sz="1450" dirty="0"/>
          </a:p>
          <a:p>
            <a:pPr algn="l" indent="0" marL="0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Course: Environmental Science | Instructor: Rama Chandra Prasad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Date: October 2026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5CB8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8958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Why Study the Ganga? — Motivation &amp; Relevance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34" y="1850271"/>
            <a:ext cx="368291" cy="36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3770" y="1850231"/>
            <a:ext cx="1038834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The Ganga supports over 500 million people — nearly 40% of India's population lives in the Ganga basin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34" y="2673886"/>
            <a:ext cx="368291" cy="368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93770" y="2673846"/>
            <a:ext cx="1038834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It receives ~12,000 MLD (million liters per day) of untreated/partially treated sewage and industrial effluent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34" y="3497500"/>
            <a:ext cx="368291" cy="368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93770" y="3497461"/>
            <a:ext cx="10388340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Home to the world's largest religious gathering — the Maha Kumbh Mela — where up to 120 million pilgrims bathe in a 50-day window</a:t>
            </a:r>
            <a:endParaRPr lang="en-US" sz="14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34" y="4588113"/>
            <a:ext cx="368291" cy="368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93770" y="4588073"/>
            <a:ext cx="1038834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Fecal coliform levels at some stations exceed safe bathing limits by up to 680 times (our finding)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34" y="5411728"/>
            <a:ext cx="368291" cy="3683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93770" y="5411688"/>
            <a:ext cx="10388340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Despite ₹37,000+ crore invested under the Namami Gange Mission (2014–present), critical gaps remain — has the program actually worked?</a:t>
            </a:r>
            <a:endParaRPr lang="en-US" sz="1450" dirty="0"/>
          </a:p>
        </p:txBody>
      </p:sp>
      <p:sp>
        <p:nvSpPr>
          <p:cNvPr id="13" name="Shape 6"/>
          <p:cNvSpPr/>
          <p:nvPr/>
        </p:nvSpPr>
        <p:spPr>
          <a:xfrm>
            <a:off x="609585" y="2515096"/>
            <a:ext cx="10972526" cy="1270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4" name="Shape 7"/>
          <p:cNvSpPr/>
          <p:nvPr/>
        </p:nvSpPr>
        <p:spPr>
          <a:xfrm>
            <a:off x="609585" y="3338711"/>
            <a:ext cx="10972526" cy="1270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5" name="Shape 8"/>
          <p:cNvSpPr/>
          <p:nvPr/>
        </p:nvSpPr>
        <p:spPr>
          <a:xfrm>
            <a:off x="609585" y="4429323"/>
            <a:ext cx="10972526" cy="1270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6" name="Shape 9"/>
          <p:cNvSpPr/>
          <p:nvPr/>
        </p:nvSpPr>
        <p:spPr>
          <a:xfrm>
            <a:off x="609585" y="5252938"/>
            <a:ext cx="10972526" cy="1270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7" name="Text 10"/>
          <p:cNvSpPr/>
          <p:nvPr/>
        </p:nvSpPr>
        <p:spPr>
          <a:xfrm>
            <a:off x="11574471" y="6444952"/>
            <a:ext cx="617224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 / 10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5CB8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96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Research Question &amp; 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042591"/>
            <a:ext cx="1097252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"How have environmental pressures around culturally or religiously important rivers changed over time?"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09585" y="1833761"/>
            <a:ext cx="322254" cy="322263"/>
          </a:xfrm>
          <a:prstGeom prst="ellipse">
            <a:avLst/>
          </a:prstGeom>
          <a:noFill/>
          <a:ln w="19050">
            <a:solidFill>
              <a:srgbClr val="4454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6263" y="1902817"/>
            <a:ext cx="69838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8A4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84235" y="1858367"/>
            <a:ext cx="478301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Map the spatial water quality gradient from Haridwar to Patna (upstream-to-downstream transect analysis)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24442" y="1833761"/>
            <a:ext cx="322254" cy="322263"/>
          </a:xfrm>
          <a:prstGeom prst="ellipse">
            <a:avLst/>
          </a:prstGeom>
          <a:noFill/>
          <a:ln w="19050">
            <a:solidFill>
              <a:srgbClr val="4454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7428" y="1902817"/>
            <a:ext cx="72586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8A4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799092" y="1858367"/>
            <a:ext cx="478301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Track temporal trends in DO, BOD, and Fecal Coliform over 2012–2024 and correlate with policy milestones (Namami Gange 2014, Sisamau Nala 2018)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9585" y="3542209"/>
            <a:ext cx="322254" cy="322263"/>
          </a:xfrm>
          <a:prstGeom prst="ellipse">
            <a:avLst/>
          </a:prstGeom>
          <a:noFill/>
          <a:ln w="19050">
            <a:solidFill>
              <a:srgbClr val="4454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2075" y="3611265"/>
            <a:ext cx="72675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8A4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84235" y="3566815"/>
            <a:ext cx="478301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Quantify the link between riparian population density and river pollution using statistical correlation analysis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24442" y="3542209"/>
            <a:ext cx="322254" cy="322263"/>
          </a:xfrm>
          <a:prstGeom prst="ellipse">
            <a:avLst/>
          </a:prstGeom>
          <a:noFill/>
          <a:ln w="19050">
            <a:solidFill>
              <a:srgbClr val="4454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6535" y="3611265"/>
            <a:ext cx="72765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8A4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99092" y="3566815"/>
            <a:ext cx="478301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Evaluate hydrological assimilative capacity — does more river flow mean cleaner water?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5" y="5250954"/>
            <a:ext cx="322254" cy="322263"/>
          </a:xfrm>
          <a:prstGeom prst="ellipse">
            <a:avLst/>
          </a:prstGeom>
          <a:noFill/>
          <a:ln w="19050">
            <a:solidFill>
              <a:srgbClr val="4454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281" y="5320010"/>
            <a:ext cx="72844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8A4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5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84235" y="5275560"/>
            <a:ext cx="478301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Assess the environmental impact of mega religious gatherings (Kumbh Mela) on annual water quality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24442" y="5250954"/>
            <a:ext cx="322254" cy="322263"/>
          </a:xfrm>
          <a:prstGeom prst="ellipse">
            <a:avLst/>
          </a:prstGeom>
          <a:noFill/>
          <a:ln w="19050">
            <a:solidFill>
              <a:srgbClr val="4454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6039" y="5320010"/>
            <a:ext cx="72854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8A4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6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99092" y="5275560"/>
            <a:ext cx="478301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Compute a composite Water Quality Index (WQI) for each station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573875" y="6444952"/>
            <a:ext cx="61782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3 / 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5CB8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41960"/>
            <a:ext cx="11175720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14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Study Area: 5 Strategic Monitoring Stations Along the Ganga Mainstem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87" y="1373267"/>
            <a:ext cx="1168370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 map or simple schematic of the Ganga river as a flow diagram with the 5 stations marked as labeled pins.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1726406"/>
            <a:ext cx="3215599" cy="257175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80676" y="1726406"/>
          <a:ext cx="7503032" cy="914400"/>
        </p:xfrm>
        <a:graphic>
          <a:graphicData uri="http://schemas.openxmlformats.org/drawingml/2006/table">
            <a:tbl>
              <a:tblPr/>
              <a:tblGrid>
                <a:gridCol w="370970"/>
                <a:gridCol w="1773987"/>
                <a:gridCol w="1266396"/>
                <a:gridCol w="1211331"/>
                <a:gridCol w="2880348"/>
              </a:tblGrid>
              <a:tr h="4003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#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Station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Town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State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Significance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3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Har-Ki-Pauri Ghat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Haridwar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Uttarakhand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Upper baseline; foothill entry point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3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2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Jajmau Bridge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Kanpur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UP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Major industrial &amp; tannery cluster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3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3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Sangam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Prayagraj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UP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Yamuna-Ganga confluence; Kumbh Mela hub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3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4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Malviya Bridge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Varanasi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UP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Dense cremation &amp; pilgrimage center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3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5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Gandhi Ghat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Patna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Bihar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High-density lower alluvial plain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88898" marT="63498" marB="634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7987" y="5628580"/>
            <a:ext cx="11175720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River flow increases 18× from Haridwar (566 m³/s) to Patna (10,040 m³/s) due to major tributary inflows (Yamuna, Ghaghara, Gandak, Son)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1573280" y="6444952"/>
            <a:ext cx="618415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4 / 10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5CB8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89560"/>
            <a:ext cx="1117572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14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Data Sources: 6 Independent Datasets Integrated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87" y="829270"/>
            <a:ext cx="11175720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India-WRIS observed discharge data is classified/restricted by the Central Water Commission due to transboundary river sensitivities. We used HydroRIVERS modeled discharge as an objective baseline.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528366"/>
          <a:ext cx="11175721" cy="914400"/>
        </p:xfrm>
        <a:graphic>
          <a:graphicData uri="http://schemas.openxmlformats.org/drawingml/2006/table">
            <a:tbl>
              <a:tblPr/>
              <a:tblGrid>
                <a:gridCol w="2123304"/>
                <a:gridCol w="3017403"/>
                <a:gridCol w="2235144"/>
                <a:gridCol w="3799870"/>
              </a:tblGrid>
              <a:tr h="49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Dataset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Source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Coverage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Key Variables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Water Quality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CPCB NWMP Annual Reports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2012–2024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DO, BOD, pH, Conductivity, Nitrate, Fecal Coliform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</a:tr>
              <a:tr h="49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River Hydrology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HydroSHEDS / HydroRIVERS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Long-term modeled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Reach geometry, Discharge (m³/s)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</a:tr>
              <a:tr h="49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Demographics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WorldPop Project (1 km)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2000–2020 (5-yr)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Population density (persons/km²)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</a:tr>
              <a:tr h="762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Religious Events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Official Gazettes &amp; News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2013–2022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Kumbh Mela, Chhath Puja, Ganga Dussehra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</a:tr>
              <a:tr h="49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Station Metadata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CPCB Station Directory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5 stations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GPS coordinates, parameter lists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</a:tr>
              <a:tr h="762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Infrastructure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OpenStreetMap (Planned)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Current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Ghats, cremation grounds, nala mouths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2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72883" y="6444952"/>
            <a:ext cx="61881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5 /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5CB8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954524"/>
            <a:ext cx="1117572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14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Methodology: Automated End-to-End Analytical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87" y="1494711"/>
            <a:ext cx="1168370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Flowchart of 6 boxes connected by arrows: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7987" y="1847850"/>
            <a:ext cx="1862587" cy="736600"/>
          </a:xfrm>
          <a:prstGeom prst="rect">
            <a:avLst/>
          </a:prstGeom>
          <a:solidFill>
            <a:srgbClr val="445455"/>
          </a:solidFill>
          <a:ln/>
        </p:spPr>
      </p:sp>
      <p:sp>
        <p:nvSpPr>
          <p:cNvPr id="5" name="Shape 3"/>
          <p:cNvSpPr/>
          <p:nvPr/>
        </p:nvSpPr>
        <p:spPr>
          <a:xfrm>
            <a:off x="519397" y="1859260"/>
            <a:ext cx="1839470" cy="713581"/>
          </a:xfrm>
          <a:prstGeom prst="rect">
            <a:avLst/>
          </a:prstGeom>
          <a:solidFill>
            <a:srgbClr val="0C1C1D"/>
          </a:solidFill>
          <a:ln/>
        </p:spPr>
      </p:sp>
      <p:sp>
        <p:nvSpPr>
          <p:cNvPr id="6" name="Text 4"/>
          <p:cNvSpPr/>
          <p:nvPr/>
        </p:nvSpPr>
        <p:spPr>
          <a:xfrm>
            <a:off x="1338130" y="2078038"/>
            <a:ext cx="81178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D6E0D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1.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634984" y="2657475"/>
            <a:ext cx="160859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PDF Parsing (CPCB reports 2012–2024) →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70574" y="1847850"/>
            <a:ext cx="1862587" cy="736600"/>
          </a:xfrm>
          <a:prstGeom prst="rect">
            <a:avLst/>
          </a:prstGeom>
          <a:solidFill>
            <a:srgbClr val="445455"/>
          </a:solidFill>
          <a:ln/>
        </p:spPr>
      </p:sp>
      <p:sp>
        <p:nvSpPr>
          <p:cNvPr id="9" name="Shape 7"/>
          <p:cNvSpPr/>
          <p:nvPr/>
        </p:nvSpPr>
        <p:spPr>
          <a:xfrm>
            <a:off x="2381984" y="1859260"/>
            <a:ext cx="1839470" cy="713581"/>
          </a:xfrm>
          <a:prstGeom prst="rect">
            <a:avLst/>
          </a:prstGeom>
          <a:solidFill>
            <a:srgbClr val="0C1C1D"/>
          </a:solidFill>
          <a:ln/>
        </p:spPr>
      </p:sp>
      <p:sp>
        <p:nvSpPr>
          <p:cNvPr id="10" name="Text 8"/>
          <p:cNvSpPr/>
          <p:nvPr/>
        </p:nvSpPr>
        <p:spPr>
          <a:xfrm>
            <a:off x="3180179" y="2078038"/>
            <a:ext cx="8529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D6E0D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2.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2497571" y="2657475"/>
            <a:ext cx="160859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Data Cleaning (regex, format harmonization) 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33161" y="1847850"/>
            <a:ext cx="1862686" cy="736600"/>
          </a:xfrm>
          <a:prstGeom prst="rect">
            <a:avLst/>
          </a:prstGeom>
          <a:solidFill>
            <a:srgbClr val="445455"/>
          </a:solidFill>
          <a:ln/>
        </p:spPr>
      </p:sp>
      <p:sp>
        <p:nvSpPr>
          <p:cNvPr id="13" name="Shape 11"/>
          <p:cNvSpPr/>
          <p:nvPr/>
        </p:nvSpPr>
        <p:spPr>
          <a:xfrm>
            <a:off x="4244571" y="1859260"/>
            <a:ext cx="1839668" cy="713581"/>
          </a:xfrm>
          <a:prstGeom prst="rect">
            <a:avLst/>
          </a:prstGeom>
          <a:solidFill>
            <a:srgbClr val="0C1C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44750" y="2078038"/>
            <a:ext cx="84909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D6E0D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3.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4360158" y="2657475"/>
            <a:ext cx="1608693" cy="920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Interpolation (WorldPop 5-yr → annual linear interp) →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95848" y="1847850"/>
            <a:ext cx="1862587" cy="736600"/>
          </a:xfrm>
          <a:prstGeom prst="rect">
            <a:avLst/>
          </a:prstGeom>
          <a:solidFill>
            <a:srgbClr val="445455"/>
          </a:solidFill>
          <a:ln/>
        </p:spPr>
      </p:sp>
      <p:sp>
        <p:nvSpPr>
          <p:cNvPr id="17" name="Shape 15"/>
          <p:cNvSpPr/>
          <p:nvPr/>
        </p:nvSpPr>
        <p:spPr>
          <a:xfrm>
            <a:off x="6107257" y="1859260"/>
            <a:ext cx="1839470" cy="713581"/>
          </a:xfrm>
          <a:prstGeom prst="rect">
            <a:avLst/>
          </a:prstGeom>
          <a:solidFill>
            <a:srgbClr val="0C1C1D"/>
          </a:solidFill>
          <a:ln/>
        </p:spPr>
      </p:sp>
      <p:sp>
        <p:nvSpPr>
          <p:cNvPr id="18" name="Text 16"/>
          <p:cNvSpPr/>
          <p:nvPr/>
        </p:nvSpPr>
        <p:spPr>
          <a:xfrm>
            <a:off x="6907536" y="2078038"/>
            <a:ext cx="84879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D6E0D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4.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6222844" y="2657475"/>
            <a:ext cx="160859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Master Merge (WQ + Hydro + Demo + Events + WQI) →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8434" y="1847850"/>
            <a:ext cx="1862587" cy="736600"/>
          </a:xfrm>
          <a:prstGeom prst="rect">
            <a:avLst/>
          </a:prstGeom>
          <a:solidFill>
            <a:srgbClr val="445455"/>
          </a:solidFill>
          <a:ln/>
        </p:spPr>
      </p:sp>
      <p:sp>
        <p:nvSpPr>
          <p:cNvPr id="21" name="Shape 19"/>
          <p:cNvSpPr/>
          <p:nvPr/>
        </p:nvSpPr>
        <p:spPr>
          <a:xfrm>
            <a:off x="7969844" y="1859260"/>
            <a:ext cx="1839470" cy="713581"/>
          </a:xfrm>
          <a:prstGeom prst="rect">
            <a:avLst/>
          </a:prstGeom>
          <a:solidFill>
            <a:srgbClr val="0C1C1D"/>
          </a:solidFill>
          <a:ln/>
        </p:spPr>
      </p:sp>
      <p:sp>
        <p:nvSpPr>
          <p:cNvPr id="22" name="Text 20"/>
          <p:cNvSpPr/>
          <p:nvPr/>
        </p:nvSpPr>
        <p:spPr>
          <a:xfrm>
            <a:off x="8768138" y="2078038"/>
            <a:ext cx="85266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D6E0D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5.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8085431" y="2657475"/>
            <a:ext cx="160859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Statistical Testing (Spearman, M-W U, WQI, Compliance) →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821021" y="1847850"/>
            <a:ext cx="1862686" cy="736600"/>
          </a:xfrm>
          <a:prstGeom prst="rect">
            <a:avLst/>
          </a:prstGeom>
          <a:solidFill>
            <a:srgbClr val="445455"/>
          </a:solidFill>
          <a:ln/>
        </p:spPr>
      </p:sp>
      <p:sp>
        <p:nvSpPr>
          <p:cNvPr id="25" name="Shape 23"/>
          <p:cNvSpPr/>
          <p:nvPr/>
        </p:nvSpPr>
        <p:spPr>
          <a:xfrm>
            <a:off x="9832431" y="1859260"/>
            <a:ext cx="1839668" cy="713581"/>
          </a:xfrm>
          <a:prstGeom prst="rect">
            <a:avLst/>
          </a:prstGeom>
          <a:solidFill>
            <a:srgbClr val="0C1C1D"/>
          </a:solidFill>
          <a:ln/>
        </p:spPr>
      </p:sp>
      <p:sp>
        <p:nvSpPr>
          <p:cNvPr id="26" name="Text 24"/>
          <p:cNvSpPr/>
          <p:nvPr/>
        </p:nvSpPr>
        <p:spPr>
          <a:xfrm>
            <a:off x="10631222" y="2078038"/>
            <a:ext cx="85187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D6E0D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6.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9948018" y="2657475"/>
            <a:ext cx="160869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Figures &amp; Tables (10 pub-ready charts + 5 CSV)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7987" y="3916363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29" name="Text 27"/>
          <p:cNvSpPr/>
          <p:nvPr/>
        </p:nvSpPr>
        <p:spPr>
          <a:xfrm>
            <a:off x="507987" y="4146550"/>
            <a:ext cx="11175720" cy="179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Custom regex parsers handled shifting CPCB annual report formats (2012–2014: Min/Max/Mean triplets vs 2015+: Min/Max pairs)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Linear interpolation bridged 5-year WorldPop gaps for continuous 2012–2024 population density estimates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Spearman Rank Correlation (non-parametric) used because water quality data is not normally distributed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Mann-Whitney U Test for Kumbh Mela event vs non-event comparisons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NSF-WQI adapted methodology for composite water quality scoring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1572685" y="6444952"/>
            <a:ext cx="61901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6 / 10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5CB8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41960"/>
            <a:ext cx="11175720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14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Result 1: Spatial Water Quality Gradient (Upstream → Downstream)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6582" y="1601391"/>
            <a:ext cx="5974010" cy="462160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1601391"/>
            <a:ext cx="5974010" cy="46216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96275" y="1601391"/>
            <a:ext cx="4287433" cy="3346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Haridwar is the ONLY station consistently meeting all CPCB Class B bathing standards (DO ≥ 5, BOD ≤ 3, FC ≤ 2500 MPN)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DO sags below 5.0 mg/L at Kanpur (industrial effluents) and Sangam (Yamuna organic load confluence)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Fecal Coliform increases exponentially downstream — Patna reaches 1.7 million MPN/100mL (680× above the safe limit!)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Varanasi shows the worst BOD (up to 6.1 mg/L) due to dense cremation and ghat washing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583202" y="6444952"/>
            <a:ext cx="608493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7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5CB8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41960"/>
            <a:ext cx="11175720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14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Result 2: 13-Year Water Quality Trajectories &amp; Policy Interventions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6582" y="1601391"/>
            <a:ext cx="5974010" cy="4621609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1601391"/>
            <a:ext cx="5974010" cy="46216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96275" y="1601391"/>
            <a:ext cx="4287433" cy="3346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BOD at Sangam and Varanasi shows clear declining trend post-2018 (Sisamau Nala diversion impact visible at Kanpur)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DO levels remain relatively stable across all stations — foothill reaeration at Haridwar keeps DO consistently above 7 mg/L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The Namami Gange launch (2014) and Sisamau Nala interception (2018) are marked as vertical policy markers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Post-2019 BOD improvements suggest STP commissioning is having measurable effect on organic loading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571693" y="6444952"/>
            <a:ext cx="62000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8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5CB8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41960"/>
            <a:ext cx="1117572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14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Result 3: Does Higher Population = More Pollution?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6582" y="1210270"/>
            <a:ext cx="5974010" cy="5012730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1210270"/>
            <a:ext cx="5974010" cy="5012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96275" y="1210270"/>
            <a:ext cx="4287433" cy="356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Population Density vs BOD: Spearman ρ = -0.52 (p &lt; 0.001) → INVERSE correlation! Why? Downstream tributary dilution at high-density Patna masks the organic load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Population Density vs Fecal Coliform: Spearman ρ = +0.32 (p = 0.027) → POSITIVE correlation! Bacterial contamination directly tracks untreated municipal sewage from larger settlements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This reveals the "Hydrological Assimilative Paradox" — dilution reduces BOD concentration but pathogens persist regardless of flow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572685" y="6444952"/>
            <a:ext cx="61901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9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5CB8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41960"/>
            <a:ext cx="1117572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14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Result 4: River Flow vs Pollution — The Dilution Paradox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6582" y="1210270"/>
            <a:ext cx="5974010" cy="5012730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1210270"/>
            <a:ext cx="5974010" cy="5012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96275" y="1210270"/>
            <a:ext cx="4287433" cy="3613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Panel A: Higher discharge → lower BOD concentration (dilution effect) but Kanpur is an outlier (high BOD despite moderate flow)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Panel B: Total organic mass flux (BOD × Q) INCREASES downstream → the river carries MORE total pollution even as concentration drops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Patna: BOD concentration low (~2.7 mg/L) but absolute organic mass load is highest because of 10,040 m³/s discharge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Key ES Concept: "The solution to pollution is NOT dilution" — while concentration drops, absolute loading keeps increasing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515238" y="6444952"/>
            <a:ext cx="676457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10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5CB8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Result 5: Does Kumbh Mela Impact Water Quality?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6390" y="1116509"/>
            <a:ext cx="3755038" cy="69751"/>
          </a:xfrm>
          <a:prstGeom prst="roundRect">
            <a:avLst>
              <a:gd name="adj" fmla="val 49999"/>
            </a:avLst>
          </a:prstGeom>
          <a:solidFill>
            <a:srgbClr val="1D7F95"/>
          </a:solidFill>
          <a:ln/>
        </p:spPr>
      </p:sp>
      <p:sp>
        <p:nvSpPr>
          <p:cNvPr id="4" name="Shape 2"/>
          <p:cNvSpPr/>
          <p:nvPr/>
        </p:nvSpPr>
        <p:spPr>
          <a:xfrm>
            <a:off x="406390" y="1419721"/>
            <a:ext cx="6553036" cy="5031879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1419721"/>
            <a:ext cx="6553036" cy="503187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16515" y="1419721"/>
            <a:ext cx="4368691" cy="5031879"/>
          </a:xfrm>
          <a:prstGeom prst="roundRect">
            <a:avLst>
              <a:gd name="adj" fmla="val 5581"/>
            </a:avLst>
          </a:prstGeom>
          <a:solidFill>
            <a:srgbClr val="17302F"/>
          </a:solidFill>
          <a:ln/>
        </p:spPr>
      </p:sp>
      <p:sp>
        <p:nvSpPr>
          <p:cNvPr id="7" name="Text 4"/>
          <p:cNvSpPr/>
          <p:nvPr/>
        </p:nvSpPr>
        <p:spPr>
          <a:xfrm>
            <a:off x="7670509" y="1673721"/>
            <a:ext cx="3860703" cy="413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Prayagraj Sangam (Kumbh 2013 &amp; Ardh Kumbh 2019): BOD during event years is NOT statistically different from baseline (p &gt; 0.05)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Why? Annual Min/Max monitoring SMOOTHS OUT acute 1–30 day event spikes — the monitoring resolution is too coarse to capture festival shocks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This is a critical LIMITATION — it highlights the need for continuous real-time monitoring during mega-events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Haridwar 2021 Kumbh: Also no significant departure — but sample size is small (n = 1 event year)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6781800"/>
            <a:ext cx="12191695" cy="76200"/>
          </a:xfrm>
          <a:prstGeom prst="roundRect">
            <a:avLst>
              <a:gd name="adj" fmla="val 39999"/>
            </a:avLst>
          </a:prstGeom>
          <a:solidFill>
            <a:srgbClr val="2F9B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27000"/>
            <a:ext cx="11378915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Result 6: Composite Water Quality Index (WQI) — Station × Year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6390" y="1294805"/>
            <a:ext cx="3755038" cy="69751"/>
          </a:xfrm>
          <a:prstGeom prst="roundRect">
            <a:avLst>
              <a:gd name="adj" fmla="val 49999"/>
            </a:avLst>
          </a:prstGeom>
          <a:solidFill>
            <a:srgbClr val="1D7F95"/>
          </a:solidFill>
          <a:ln/>
        </p:spPr>
      </p:sp>
      <p:sp>
        <p:nvSpPr>
          <p:cNvPr id="4" name="Shape 2"/>
          <p:cNvSpPr/>
          <p:nvPr/>
        </p:nvSpPr>
        <p:spPr>
          <a:xfrm>
            <a:off x="406390" y="1598017"/>
            <a:ext cx="6553036" cy="5158383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1598017"/>
            <a:ext cx="6553036" cy="51583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16515" y="1598017"/>
            <a:ext cx="4368691" cy="5158383"/>
          </a:xfrm>
          <a:prstGeom prst="roundRect">
            <a:avLst>
              <a:gd name="adj" fmla="val 5581"/>
            </a:avLst>
          </a:prstGeom>
          <a:solidFill>
            <a:srgbClr val="17302F"/>
          </a:solidFill>
          <a:ln/>
        </p:spPr>
      </p:sp>
      <p:sp>
        <p:nvSpPr>
          <p:cNvPr id="7" name="Text 4"/>
          <p:cNvSpPr/>
          <p:nvPr/>
        </p:nvSpPr>
        <p:spPr>
          <a:xfrm>
            <a:off x="7645110" y="1826617"/>
            <a:ext cx="3911502" cy="452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WQI computed using NSF-WQI adapted methodology: DO (31%) + Fecal Coliform (30%) + BOD (23%) + pH (16%)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Haridwar: WQI Mean = 86.3 (GOOD) — the only station with "Good" rating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Varanasi: WQI Mean = 55.1 (MEDIUM) — worst overall water quality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Kanpur: WQI Mean = 66.2 (MEDIUM) — industrial load suppresses quality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Patna: WQI oscillates between 49–85 — extreme variability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WQI gives a SINGLE NUMBER that summarizes overall river health, making it easy for policymakers and the public to understand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6781800"/>
            <a:ext cx="12191695" cy="76200"/>
          </a:xfrm>
          <a:prstGeom prst="roundRect">
            <a:avLst>
              <a:gd name="adj" fmla="val 39999"/>
            </a:avLst>
          </a:prstGeom>
          <a:solidFill>
            <a:srgbClr val="2F9BF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Result 7: Multi-Dimensional Environmental Pressure Radar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6390" y="1116509"/>
            <a:ext cx="3755038" cy="69751"/>
          </a:xfrm>
          <a:prstGeom prst="roundRect">
            <a:avLst>
              <a:gd name="adj" fmla="val 49999"/>
            </a:avLst>
          </a:prstGeom>
          <a:solidFill>
            <a:srgbClr val="1D7F95"/>
          </a:solidFill>
          <a:ln/>
        </p:spPr>
      </p:sp>
      <p:sp>
        <p:nvSpPr>
          <p:cNvPr id="4" name="Shape 2"/>
          <p:cNvSpPr/>
          <p:nvPr/>
        </p:nvSpPr>
        <p:spPr>
          <a:xfrm>
            <a:off x="406390" y="1419721"/>
            <a:ext cx="6553036" cy="5031879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1419721"/>
            <a:ext cx="6553036" cy="503187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16515" y="1419721"/>
            <a:ext cx="4368691" cy="5031879"/>
          </a:xfrm>
          <a:prstGeom prst="roundRect">
            <a:avLst>
              <a:gd name="adj" fmla="val 5581"/>
            </a:avLst>
          </a:prstGeom>
          <a:solidFill>
            <a:srgbClr val="17302F"/>
          </a:solidFill>
          <a:ln/>
        </p:spPr>
      </p:sp>
      <p:sp>
        <p:nvSpPr>
          <p:cNvPr id="7" name="Text 4"/>
          <p:cNvSpPr/>
          <p:nvPr/>
        </p:nvSpPr>
        <p:spPr>
          <a:xfrm>
            <a:off x="7645110" y="1648321"/>
            <a:ext cx="3911502" cy="447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6 pressure axes: BOD Load, DO Deficit, Pathogen Risk, Population Pressure, Dilution Deficit, Nutrient Load — each normalized 0–1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Haridwar (green): Smallest area = lowest cumulative environmental pressure. Main vulnerability: dilution deficit (small flow)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Varanasi (purple): Highest BOD load and pathogen risk combined with moderate population pressure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Patna (blue): Highest pathogen risk despite having the best dilution capacity — confirms the Assimilative Paradox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Kanpur (red): High DO deficit + high BOD = industrial signature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6781800"/>
            <a:ext cx="12191695" cy="76200"/>
          </a:xfrm>
          <a:prstGeom prst="roundRect">
            <a:avLst>
              <a:gd name="adj" fmla="val 39999"/>
            </a:avLst>
          </a:prstGeom>
          <a:solidFill>
            <a:srgbClr val="2F9B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04800"/>
            <a:ext cx="1137891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Result 8: Did Namami Gange Work? — Statistical Evidence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06390" y="911820"/>
            <a:ext cx="5537061" cy="3200202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911820"/>
            <a:ext cx="5537061" cy="19269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48244" y="911820"/>
            <a:ext cx="5537061" cy="3200202"/>
          </a:xfrm>
          <a:prstGeom prst="roundRect">
            <a:avLst>
              <a:gd name="adj" fmla="val 7619"/>
            </a:avLst>
          </a:prstGeom>
          <a:solidFill>
            <a:srgbClr val="17302F"/>
          </a:solidFill>
          <a:ln/>
        </p:spPr>
      </p:sp>
      <p:sp>
        <p:nvSpPr>
          <p:cNvPr id="6" name="Text 3"/>
          <p:cNvSpPr/>
          <p:nvPr/>
        </p:nvSpPr>
        <p:spPr>
          <a:xfrm>
            <a:off x="6426039" y="1038820"/>
            <a:ext cx="5181470" cy="294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GOOD NEWS: BOD has significantly decreased at Prayagraj (−45%), Varanasi (−42%), and Patna (−44%) — STP commissioning is working!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BAD NEWS: Fecal Coliform has INCREASED dramatically at Kanpur (+623%) and Patna (+8055%) — pathogen crisis is WORSENING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Interpretation: Namami Gange is successfully reducing organic loading (BOD) but has FAILED to address the bacterial contamination crisis — STPs lack tertiary disinfection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4296172"/>
          <a:ext cx="11378916" cy="914400"/>
        </p:xfrm>
        <a:graphic>
          <a:graphicData uri="http://schemas.openxmlformats.org/drawingml/2006/table">
            <a:tbl>
              <a:tblPr/>
              <a:tblGrid>
                <a:gridCol w="1820619"/>
                <a:gridCol w="1706817"/>
                <a:gridCol w="2048121"/>
                <a:gridCol w="2048121"/>
                <a:gridCol w="1706817"/>
                <a:gridCol w="2048419"/>
              </a:tblGrid>
              <a:tr h="3631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96" kern="1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Station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96" kern="1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Parameter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96" kern="1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Pre (2012–15)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96" kern="1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Post (2017–24)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96" kern="1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Change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96" kern="1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Significant?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E"/>
                    </a:solidFill>
                  </a:tcPr>
                </a:tc>
              </a:tr>
              <a:tr h="3631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Prayagraj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BOD Max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6.48 mg/L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3.55 mg/L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−45.2% ↓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Yes (p=0.04)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1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Varanasi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BOD Max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5.13 mg/L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2.98 mg/L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−41.9% ↓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No (p=0.38)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1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Patna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BOD Max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2.93 mg/L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1.66 mg/L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−43.5% ↓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Near (p=0.06)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1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Kanpur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FC Max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1,026 MPN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7,414 MPN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+623% ↑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73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Yes (p=0.03)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4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Patna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FC Max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5,394 MPN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439,857 MPN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+8055% ↑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73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Yes (p=0.02)</a:t>
                      </a:r>
                      <a:endParaRPr lang="en-US" sz="14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0" y="6781800"/>
            <a:ext cx="12191695" cy="76200"/>
          </a:xfrm>
          <a:prstGeom prst="roundRect">
            <a:avLst>
              <a:gd name="adj" fmla="val 39999"/>
            </a:avLst>
          </a:prstGeom>
          <a:solidFill>
            <a:srgbClr val="2F9BF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Result 9: CPCB Class B Bathing Standard — Compliance Scorecard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6390" y="1574205"/>
            <a:ext cx="3755038" cy="69751"/>
          </a:xfrm>
          <a:prstGeom prst="roundRect">
            <a:avLst>
              <a:gd name="adj" fmla="val 49999"/>
            </a:avLst>
          </a:prstGeom>
          <a:solidFill>
            <a:srgbClr val="1D7F95"/>
          </a:solidFill>
          <a:ln/>
        </p:spPr>
      </p:sp>
      <p:sp>
        <p:nvSpPr>
          <p:cNvPr id="4" name="Shape 2"/>
          <p:cNvSpPr/>
          <p:nvPr/>
        </p:nvSpPr>
        <p:spPr>
          <a:xfrm>
            <a:off x="406390" y="1877417"/>
            <a:ext cx="6553036" cy="4675783"/>
          </a:xfrm>
          <a:prstGeom prst="roundRect">
            <a:avLst>
              <a:gd name="adj" fmla="val 3911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1877417"/>
            <a:ext cx="6553036" cy="46757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16515" y="1877417"/>
            <a:ext cx="4368691" cy="4675783"/>
          </a:xfrm>
          <a:prstGeom prst="roundRect">
            <a:avLst>
              <a:gd name="adj" fmla="val 5581"/>
            </a:avLst>
          </a:prstGeom>
          <a:solidFill>
            <a:srgbClr val="17302F"/>
          </a:solidFill>
          <a:ln/>
        </p:spPr>
      </p:sp>
      <p:sp>
        <p:nvSpPr>
          <p:cNvPr id="7" name="Text 4"/>
          <p:cNvSpPr/>
          <p:nvPr/>
        </p:nvSpPr>
        <p:spPr>
          <a:xfrm>
            <a:off x="7645110" y="2106017"/>
            <a:ext cx="3911502" cy="418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Haridwar: 100% compliance across ALL parameters ✓ → The only "safe" bathing station on the entire mainstem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Kanpur: 0% DO compliance, 0% BOD compliance — chronically fails every parameter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Varanasi &amp; Patna: 0% Fecal Coliform compliance — NEVER safe for bathing by bacterial standards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pH compliance is generally good (70–100%) across all stations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Bottom line: 4 out of 5 stations FAIL bathing safety standards — millions of pilgrims and daily bathers are at serious health risk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6781800"/>
            <a:ext cx="12191695" cy="76200"/>
          </a:xfrm>
          <a:prstGeom prst="roundRect">
            <a:avLst>
              <a:gd name="adj" fmla="val 39999"/>
            </a:avLst>
          </a:prstGeom>
          <a:solidFill>
            <a:srgbClr val="2F9BF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Environmental Cause-Effect Matrix &amp; Engineering Solutions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6390" y="1116509"/>
            <a:ext cx="3755038" cy="69751"/>
          </a:xfrm>
          <a:prstGeom prst="roundRect">
            <a:avLst>
              <a:gd name="adj" fmla="val 49999"/>
            </a:avLst>
          </a:prstGeom>
          <a:solidFill>
            <a:srgbClr val="1D7F95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932980"/>
          <a:ext cx="11378916" cy="914400"/>
        </p:xfrm>
        <a:graphic>
          <a:graphicData uri="http://schemas.openxmlformats.org/drawingml/2006/table">
            <a:tbl>
              <a:tblPr/>
              <a:tblGrid>
                <a:gridCol w="2844729"/>
                <a:gridCol w="3868740"/>
                <a:gridCol w="4665447"/>
              </a:tblGrid>
              <a:tr h="398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Problem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73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Root Cause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73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Solution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38"/>
                    </a:solidFill>
                  </a:tcPr>
                </a:tc>
              </a:tr>
              <a:tr h="683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DO Deficit (Kanpur/Sangam)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Streeter-Phelps deoxygenation from tannery &amp; sewage waste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Sisamau Nala I&amp;D; CETP with ZLD for tanneries; riverbed reaeration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38"/>
                    </a:solidFill>
                  </a:tcPr>
                </a:tc>
              </a:tr>
              <a:tr h="683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BOD Excess (3× limit at 3 stations)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3,000 MLD untreated municipal wastewater discharge basin-wide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Namami Gange STP commissioning; phytoremediation wetlands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38"/>
                    </a:solidFill>
                  </a:tcPr>
                </a:tc>
              </a:tr>
              <a:tr h="683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Fecal Coliform Crisis (680× limit)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Direct nala outfalls, unsewered slums, open sandbars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FSSM; UV/ozone tertiary disinfection at STPs; eco-sanitation at ghats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38"/>
                    </a:solidFill>
                  </a:tcPr>
                </a:tc>
              </a:tr>
              <a:tr h="683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Festival Shock Loading (120M bathers)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Acute surge exceeding STP design capacity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Timed dam releases from Narora; temporary geo-tube filtration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38"/>
                    </a:solidFill>
                  </a:tcPr>
                </a:tc>
              </a:tr>
              <a:tr h="6895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Dilution Paradox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Tributaries dilute concentration but pathogens persist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E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Alegreya Sans" pitchFamily="34" charset="0"/>
                          <a:ea typeface="Alegreya Sans" pitchFamily="34" charset="-122"/>
                          <a:cs typeface="Alegreya Sans" pitchFamily="34" charset="-120"/>
                        </a:rPr>
                        <a:t>Mandatory e-flow enforcement from Tehri/Narora during lean season</a:t>
                      </a:r>
                      <a:endParaRPr lang="en-US" sz="1600" dirty="0">
                        <a:latin typeface="Alegreya Sans" charset="0"/>
                        <a:ea typeface="Alegreya Sans" charset="0"/>
                        <a:cs typeface="Alegreya Sans" charset="0"/>
                      </a:endParaRPr>
                    </a:p>
                  </a:txBody>
                  <a:tcPr marL="76198" marR="76198" marT="50799" marB="50799" anchor="ctr">
                    <a:lnL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8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5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3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81800"/>
            <a:ext cx="12191695" cy="76200"/>
          </a:xfrm>
          <a:prstGeom prst="roundRect">
            <a:avLst>
              <a:gd name="adj" fmla="val 39999"/>
            </a:avLst>
          </a:prstGeom>
          <a:solidFill>
            <a:srgbClr val="2F9B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Conclusions &amp; 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6390" y="1116509"/>
            <a:ext cx="3755038" cy="69751"/>
          </a:xfrm>
          <a:prstGeom prst="roundRect">
            <a:avLst>
              <a:gd name="adj" fmla="val 49999"/>
            </a:avLst>
          </a:prstGeom>
          <a:solidFill>
            <a:srgbClr val="1D7F95"/>
          </a:solidFill>
          <a:ln/>
        </p:spPr>
      </p:sp>
      <p:sp>
        <p:nvSpPr>
          <p:cNvPr id="4" name="Shape 2"/>
          <p:cNvSpPr/>
          <p:nvPr/>
        </p:nvSpPr>
        <p:spPr>
          <a:xfrm>
            <a:off x="406390" y="1419721"/>
            <a:ext cx="5537061" cy="1480741"/>
          </a:xfrm>
          <a:prstGeom prst="roundRect">
            <a:avLst>
              <a:gd name="adj" fmla="val 16467"/>
            </a:avLst>
          </a:prstGeom>
          <a:solidFill>
            <a:srgbClr val="17302F"/>
          </a:solidFill>
          <a:ln/>
        </p:spPr>
      </p:sp>
      <p:sp>
        <p:nvSpPr>
          <p:cNvPr id="5" name="Shape 3"/>
          <p:cNvSpPr/>
          <p:nvPr/>
        </p:nvSpPr>
        <p:spPr>
          <a:xfrm>
            <a:off x="558786" y="1572121"/>
            <a:ext cx="355591" cy="355600"/>
          </a:xfrm>
          <a:prstGeom prst="ellipse">
            <a:avLst/>
          </a:prstGeom>
          <a:noFill/>
          <a:ln w="25399">
            <a:solidFill>
              <a:srgbClr val="E1D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971" y="1648321"/>
            <a:ext cx="6828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7572" y="1610221"/>
            <a:ext cx="4673483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SPATIAL GRADIENT: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 The Ganga degrades progressively from Haridwar (WQI 86, "Good") to Varanasi (WQI 55, "Medium") — a spatial fingerprint of cumulative anthropogenic pressure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244" y="1419721"/>
            <a:ext cx="5537061" cy="1480741"/>
          </a:xfrm>
          <a:prstGeom prst="roundRect">
            <a:avLst>
              <a:gd name="adj" fmla="val 16467"/>
            </a:avLst>
          </a:prstGeom>
          <a:solidFill>
            <a:srgbClr val="1B353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640" y="1572121"/>
            <a:ext cx="355591" cy="355600"/>
          </a:xfrm>
          <a:prstGeom prst="ellipse">
            <a:avLst/>
          </a:prstGeom>
          <a:noFill/>
          <a:ln w="25399">
            <a:solidFill>
              <a:srgbClr val="E1D3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0514" y="1648321"/>
            <a:ext cx="70532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59426" y="1610221"/>
            <a:ext cx="467348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POLICY SUCCESS: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 Namami Gange has achieved 42–45% BOD reduction at 3 stations — STP commissioning is measurably working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6390" y="3205163"/>
            <a:ext cx="5537061" cy="1480939"/>
          </a:xfrm>
          <a:prstGeom prst="roundRect">
            <a:avLst>
              <a:gd name="adj" fmla="val 16465"/>
            </a:avLst>
          </a:prstGeom>
          <a:solidFill>
            <a:srgbClr val="17302F"/>
          </a:solidFill>
          <a:ln/>
        </p:spPr>
      </p:sp>
      <p:sp>
        <p:nvSpPr>
          <p:cNvPr id="13" name="Shape 11"/>
          <p:cNvSpPr/>
          <p:nvPr/>
        </p:nvSpPr>
        <p:spPr>
          <a:xfrm>
            <a:off x="558786" y="3357563"/>
            <a:ext cx="355591" cy="355600"/>
          </a:xfrm>
          <a:prstGeom prst="ellipse">
            <a:avLst/>
          </a:prstGeom>
          <a:noFill/>
          <a:ln w="25399">
            <a:solidFill>
              <a:srgbClr val="E1D3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728" y="3433763"/>
            <a:ext cx="69719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7572" y="3395662"/>
            <a:ext cx="467348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POLICY FAILURE: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 Fecal Coliform has INCREASED 623–8055% — STPs lack tertiary disinfection. The bacterial crisis is worsening.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8244" y="3205163"/>
            <a:ext cx="5537061" cy="1480939"/>
          </a:xfrm>
          <a:prstGeom prst="roundRect">
            <a:avLst>
              <a:gd name="adj" fmla="val 16465"/>
            </a:avLst>
          </a:prstGeom>
          <a:solidFill>
            <a:srgbClr val="1B353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640" y="3357563"/>
            <a:ext cx="355591" cy="355600"/>
          </a:xfrm>
          <a:prstGeom prst="ellipse">
            <a:avLst/>
          </a:prstGeom>
          <a:noFill/>
          <a:ln w="25399">
            <a:solidFill>
              <a:srgbClr val="E1D3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7240" y="3433763"/>
            <a:ext cx="71187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59426" y="3395662"/>
            <a:ext cx="467348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ASSIMILATIVE PARADOX: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 18× discharge expansion dilutes BOD concentration but fails to assimilate pathogen loading — "the solution to pollution is NOT dilution"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6390" y="4990802"/>
            <a:ext cx="5537061" cy="1480741"/>
          </a:xfrm>
          <a:prstGeom prst="roundRect">
            <a:avLst>
              <a:gd name="adj" fmla="val 16467"/>
            </a:avLst>
          </a:prstGeom>
          <a:solidFill>
            <a:srgbClr val="17302F"/>
          </a:solidFill>
          <a:ln/>
        </p:spPr>
      </p:sp>
      <p:sp>
        <p:nvSpPr>
          <p:cNvPr id="21" name="Shape 19"/>
          <p:cNvSpPr/>
          <p:nvPr/>
        </p:nvSpPr>
        <p:spPr>
          <a:xfrm>
            <a:off x="558786" y="5143202"/>
            <a:ext cx="355591" cy="355600"/>
          </a:xfrm>
          <a:prstGeom prst="ellipse">
            <a:avLst/>
          </a:prstGeom>
          <a:noFill/>
          <a:ln w="25399">
            <a:solidFill>
              <a:srgbClr val="E1D3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629" y="5219402"/>
            <a:ext cx="69739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7572" y="5181302"/>
            <a:ext cx="467348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MONITORING GAP: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 Annual min/max monitoring cannot detect acute festival shocks — India needs continuous real-time WQ sensors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48244" y="4990802"/>
            <a:ext cx="5537061" cy="1480741"/>
          </a:xfrm>
          <a:prstGeom prst="roundRect">
            <a:avLst>
              <a:gd name="adj" fmla="val 16467"/>
            </a:avLst>
          </a:prstGeom>
          <a:solidFill>
            <a:srgbClr val="1B353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640" y="5143202"/>
            <a:ext cx="355591" cy="355600"/>
          </a:xfrm>
          <a:prstGeom prst="ellipse">
            <a:avLst/>
          </a:prstGeom>
          <a:noFill/>
          <a:ln w="25399">
            <a:solidFill>
              <a:srgbClr val="E1D3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9323" y="5219402"/>
            <a:ext cx="70780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59426" y="5181302"/>
            <a:ext cx="467348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ONLY 1/5 SAFE: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 Haridwar is the only station where bathing is safe by regulatory standards. 80% of major stations fail.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6781800"/>
            <a:ext cx="12191695" cy="76200"/>
          </a:xfrm>
          <a:prstGeom prst="roundRect">
            <a:avLst>
              <a:gd name="adj" fmla="val 39999"/>
            </a:avLst>
          </a:prstGeom>
          <a:solidFill>
            <a:srgbClr val="2F9BF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Future Work &amp; Policy Recommendations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6390" y="1116509"/>
            <a:ext cx="3755038" cy="69751"/>
          </a:xfrm>
          <a:prstGeom prst="roundRect">
            <a:avLst>
              <a:gd name="adj" fmla="val 49999"/>
            </a:avLst>
          </a:prstGeom>
          <a:solidFill>
            <a:srgbClr val="1D7F95"/>
          </a:solidFill>
          <a:ln/>
        </p:spPr>
      </p:sp>
      <p:sp>
        <p:nvSpPr>
          <p:cNvPr id="4" name="Shape 2"/>
          <p:cNvSpPr/>
          <p:nvPr/>
        </p:nvSpPr>
        <p:spPr>
          <a:xfrm>
            <a:off x="406390" y="1419721"/>
            <a:ext cx="5460863" cy="5031879"/>
          </a:xfrm>
          <a:prstGeom prst="roundRect">
            <a:avLst>
              <a:gd name="adj" fmla="val 4846"/>
            </a:avLst>
          </a:prstGeom>
          <a:solidFill>
            <a:srgbClr val="17302F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724521"/>
            <a:ext cx="4851279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Future Research Directions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1182" y="2250777"/>
            <a:ext cx="4851279" cy="299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Seasonal analysis: Pre-monsoon vs post-monsoon water quality (requires daily/monthly data from continuous sensors)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OSM riparian mapping: Count cremation grounds, nala mouths, and industrial units within 2 km buffer per station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Antibiotic resistance gene (ARG) profiling in river sediments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Machine learning forecasting of WQI trends under climate scenarios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2" y="1419721"/>
            <a:ext cx="5460863" cy="5031879"/>
          </a:xfrm>
          <a:prstGeom prst="roundRect">
            <a:avLst>
              <a:gd name="adj" fmla="val 4846"/>
            </a:avLst>
          </a:prstGeom>
          <a:solidFill>
            <a:srgbClr val="1B3538"/>
          </a:solidFill>
          <a:ln/>
        </p:spPr>
      </p:sp>
      <p:sp>
        <p:nvSpPr>
          <p:cNvPr id="8" name="Text 6"/>
          <p:cNvSpPr/>
          <p:nvPr/>
        </p:nvSpPr>
        <p:spPr>
          <a:xfrm>
            <a:off x="6629234" y="1724521"/>
            <a:ext cx="4851279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Policy Recommendations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29234" y="2250777"/>
            <a:ext cx="4851279" cy="304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MANDATORY tertiary disinfection (UV/ozone) at all Namami Gange STPs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Deploy continuous real-time water quality sensors at pilgrimage sites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Enforce environmental flow (e-flow) releases during lean season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Implement Faecal Sludge &amp; Septage Management (FSSM) in riverside towns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Bio-toilet mandates at all major ghats and during festival gatherings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6781800"/>
            <a:ext cx="12191695" cy="76200"/>
          </a:xfrm>
          <a:prstGeom prst="roundRect">
            <a:avLst>
              <a:gd name="adj" fmla="val 39999"/>
            </a:avLst>
          </a:prstGeom>
          <a:solidFill>
            <a:srgbClr val="2F9BF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References &amp; Acknowledgements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6390" y="1116509"/>
            <a:ext cx="3755038" cy="69751"/>
          </a:xfrm>
          <a:prstGeom prst="roundRect">
            <a:avLst>
              <a:gd name="adj" fmla="val 49999"/>
            </a:avLst>
          </a:prstGeom>
          <a:solidFill>
            <a:srgbClr val="1D7F95"/>
          </a:solidFill>
          <a:ln/>
        </p:spPr>
      </p:sp>
      <p:sp>
        <p:nvSpPr>
          <p:cNvPr id="4" name="Text 2"/>
          <p:cNvSpPr/>
          <p:nvPr/>
        </p:nvSpPr>
        <p:spPr>
          <a:xfrm>
            <a:off x="406390" y="1419721"/>
            <a:ext cx="11378915" cy="2194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Central Pollution Control Board (CPCB), "National Water Quality Monitoring Programme — Water Quality Data of Rivers," Annual Reports 2012–2024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Lehner, B. &amp; Grill, G. (2013). "Global river hydrography and network routing: baseline data and new approaches to study the world's large river systems." Hydrological Processes, 27(15). [HydroSHEDS / HydroRIVERS]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WorldPop Project (www.worldpop.org). "India 1km Population Density Grids, 2000–2020." University of Southampton.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National Mission for Clean Ganga (NMCG), "Namami Gange Programme," Ministry of Jal Shakti, Government of India, 2014–present.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NSF International. "Water Quality Index" methodology.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6390" y="5425480"/>
            <a:ext cx="11378915" cy="1026120"/>
          </a:xfrm>
          <a:prstGeom prst="roundRect">
            <a:avLst>
              <a:gd name="adj" fmla="val 23763"/>
            </a:avLst>
          </a:prstGeom>
          <a:solidFill>
            <a:srgbClr val="17302F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5654080"/>
            <a:ext cx="1092172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Acknowledgements: We thank CPCB for making national water quality data publicly available, the WorldPop Project for open demographic rasters, and the WWF/USGS for the HydroSHEDS open hydrographic dataset.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781800"/>
            <a:ext cx="12191695" cy="76200"/>
          </a:xfrm>
          <a:prstGeom prst="roundRect">
            <a:avLst>
              <a:gd name="adj" fmla="val 39999"/>
            </a:avLst>
          </a:prstGeom>
          <a:solidFill>
            <a:srgbClr val="2F9BF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4204395"/>
            <a:ext cx="10769331" cy="106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400" b="1" spc="-42" kern="100" dirty="0">
                <a:solidFill>
                  <a:srgbClr val="FFFFFF"/>
                </a:solidFill>
                <a:latin typeface="Rokkitt Bold" pitchFamily="34" charset="0"/>
                <a:ea typeface="Rokkitt Bold" pitchFamily="34" charset="-122"/>
                <a:cs typeface="Rokkitt Bold" pitchFamily="34" charset="-120"/>
              </a:rPr>
              <a:t>Thank You! Questions?</a:t>
            </a:r>
            <a:endParaRPr lang="en-US" sz="8400" dirty="0"/>
          </a:p>
        </p:txBody>
      </p:sp>
      <p:sp>
        <p:nvSpPr>
          <p:cNvPr id="3" name="Shape 1"/>
          <p:cNvSpPr/>
          <p:nvPr/>
        </p:nvSpPr>
        <p:spPr>
          <a:xfrm>
            <a:off x="711182" y="5523607"/>
            <a:ext cx="3553828" cy="69751"/>
          </a:xfrm>
          <a:prstGeom prst="roundRect">
            <a:avLst>
              <a:gd name="adj" fmla="val 49999"/>
            </a:avLst>
          </a:prstGeom>
          <a:solidFill>
            <a:srgbClr val="1D7F95"/>
          </a:solidFill>
          <a:ln/>
        </p:spPr>
      </p:sp>
      <p:sp>
        <p:nvSpPr>
          <p:cNvPr id="4" name="Text 2"/>
          <p:cNvSpPr/>
          <p:nvPr/>
        </p:nvSpPr>
        <p:spPr>
          <a:xfrm>
            <a:off x="711182" y="5826820"/>
            <a:ext cx="1137891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Full repository, data, and reproducible code: github.com/prasad-raminen/Ganga-River-stem_ES-Project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781800"/>
            <a:ext cx="12191695" cy="76200"/>
          </a:xfrm>
          <a:prstGeom prst="roundRect">
            <a:avLst>
              <a:gd name="adj" fmla="val 39999"/>
            </a:avLst>
          </a:prstGeom>
          <a:solidFill>
            <a:srgbClr val="2F9B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2026-10-08T02:52:33Z</dcterms:created>
  <dcterms:modified xsi:type="dcterms:W3CDTF">2026-10-08T02:52:33Z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rgedWith">
    <vt:lpwstr>SlideModel Tools</vt:lpwstr>
  </property>
  <property fmtid="{D5CDD505-2E9C-101B-9397-08002B2CF9AE}" pid="3" name="MergedWithUrl">
    <vt:lpwstr>https://slidemodel.com/tools/combine-powerpoint/</vt:lpwstr>
  </property>
</Properties>
</file>